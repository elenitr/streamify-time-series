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2" r:id="rId7"/>
    <p:sldId id="265" r:id="rId8"/>
    <p:sldId id="270" r:id="rId9"/>
    <p:sldId id="267" r:id="rId10"/>
    <p:sldId id="264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BF6"/>
    <a:srgbClr val="234F77"/>
    <a:srgbClr val="3477B2"/>
    <a:srgbClr val="A1C4E3"/>
    <a:srgbClr val="C0D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1D46C-07CB-4C7C-A7CC-C53481D6611E}" v="157" dt="2025-06-10T18:21:57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32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BA992-6F56-4947-9C3E-C422337A84EC}" type="datetimeFigureOut">
              <a:rPr lang="el-GR" smtClean="0"/>
              <a:t>11/6/2025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9D00A-D328-439E-8614-E107EFA88B1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722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9D00A-D328-439E-8614-E107EFA88B10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56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7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6/11/2025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5AB4091-0AD8-279F-F16C-DF3009C29E7C}"/>
              </a:ext>
            </a:extLst>
          </p:cNvPr>
          <p:cNvSpPr>
            <a:spLocks/>
          </p:cNvSpPr>
          <p:nvPr/>
        </p:nvSpPr>
        <p:spPr>
          <a:xfrm rot="3946824" flipH="1">
            <a:off x="-902254" y="890643"/>
            <a:ext cx="7264850" cy="7034726"/>
          </a:xfrm>
          <a:custGeom>
            <a:avLst/>
            <a:gdLst>
              <a:gd name="connsiteX0" fmla="*/ 7264850 w 7264850"/>
              <a:gd name="connsiteY0" fmla="*/ 4965911 h 7034726"/>
              <a:gd name="connsiteX1" fmla="*/ 0 w 7264850"/>
              <a:gd name="connsiteY1" fmla="*/ 0 h 7034726"/>
              <a:gd name="connsiteX2" fmla="*/ 0 w 7264850"/>
              <a:gd name="connsiteY2" fmla="*/ 1414413 h 7034726"/>
              <a:gd name="connsiteX3" fmla="*/ 2528180 w 7264850"/>
              <a:gd name="connsiteY3" fmla="*/ 7034726 h 7034726"/>
              <a:gd name="connsiteX4" fmla="*/ 2665735 w 7264850"/>
              <a:gd name="connsiteY4" fmla="*/ 7034726 h 7034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4850" h="7034726">
                <a:moveTo>
                  <a:pt x="7264850" y="4965911"/>
                </a:moveTo>
                <a:lnTo>
                  <a:pt x="0" y="0"/>
                </a:lnTo>
                <a:lnTo>
                  <a:pt x="0" y="1414413"/>
                </a:lnTo>
                <a:lnTo>
                  <a:pt x="2528180" y="7034726"/>
                </a:lnTo>
                <a:lnTo>
                  <a:pt x="2665735" y="7034726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10000"/>
                </a:schemeClr>
              </a:gs>
              <a:gs pos="28000">
                <a:schemeClr val="accent5">
                  <a:lumMod val="25000"/>
                </a:schemeClr>
              </a:gs>
              <a:gs pos="55000">
                <a:schemeClr val="accent5">
                  <a:lumMod val="50000"/>
                </a:schemeClr>
              </a:gs>
              <a:gs pos="78000">
                <a:schemeClr val="accent5">
                  <a:lumMod val="75000"/>
                </a:schemeClr>
              </a:gs>
              <a:gs pos="97000">
                <a:schemeClr val="accent5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l-GR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4A5FF46-EB25-F8DD-1DE7-A3198FB5E732}"/>
              </a:ext>
            </a:extLst>
          </p:cNvPr>
          <p:cNvSpPr>
            <a:spLocks/>
          </p:cNvSpPr>
          <p:nvPr/>
        </p:nvSpPr>
        <p:spPr>
          <a:xfrm rot="21183172" flipH="1">
            <a:off x="3178816" y="465671"/>
            <a:ext cx="9656668" cy="6944059"/>
          </a:xfrm>
          <a:custGeom>
            <a:avLst/>
            <a:gdLst>
              <a:gd name="connsiteX0" fmla="*/ 241255 w 9656668"/>
              <a:gd name="connsiteY0" fmla="*/ 0 h 6944059"/>
              <a:gd name="connsiteX1" fmla="*/ 0 w 9656668"/>
              <a:gd name="connsiteY1" fmla="*/ 29397 h 6944059"/>
              <a:gd name="connsiteX2" fmla="*/ 842538 w 9656668"/>
              <a:gd name="connsiteY2" fmla="*/ 6944059 h 6944059"/>
              <a:gd name="connsiteX3" fmla="*/ 9656668 w 9656668"/>
              <a:gd name="connsiteY3" fmla="*/ 5870074 h 6944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56668" h="6944059">
                <a:moveTo>
                  <a:pt x="241255" y="0"/>
                </a:moveTo>
                <a:lnTo>
                  <a:pt x="0" y="29397"/>
                </a:lnTo>
                <a:lnTo>
                  <a:pt x="842538" y="6944059"/>
                </a:lnTo>
                <a:lnTo>
                  <a:pt x="9656668" y="587007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10000"/>
                </a:schemeClr>
              </a:gs>
              <a:gs pos="28000">
                <a:schemeClr val="accent5">
                  <a:lumMod val="25000"/>
                </a:schemeClr>
              </a:gs>
              <a:gs pos="55000">
                <a:schemeClr val="accent5">
                  <a:lumMod val="50000"/>
                </a:schemeClr>
              </a:gs>
              <a:gs pos="78000">
                <a:schemeClr val="accent5">
                  <a:lumMod val="75000"/>
                </a:schemeClr>
              </a:gs>
              <a:gs pos="97000">
                <a:schemeClr val="accent5">
                  <a:lumMod val="90000"/>
                </a:schemeClr>
              </a:gs>
            </a:gsLst>
            <a:lin ang="5400000" scaled="1"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0B33-7FB6-C265-2468-AC6F2353FD2F}"/>
              </a:ext>
            </a:extLst>
          </p:cNvPr>
          <p:cNvSpPr txBox="1"/>
          <p:nvPr/>
        </p:nvSpPr>
        <p:spPr>
          <a:xfrm>
            <a:off x="1673701" y="1171432"/>
            <a:ext cx="74324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 err="1">
                <a:latin typeface="Seaford Display" panose="020F0502020204030204" pitchFamily="2" charset="0"/>
              </a:rPr>
              <a:t>Streamify</a:t>
            </a:r>
            <a:r>
              <a:rPr lang="en-US" sz="4000" dirty="0">
                <a:latin typeface="Seaford Display" panose="020F0502020204030204" pitchFamily="2" charset="0"/>
              </a:rPr>
              <a:t> Time-Series Anomaly Detection Methods</a:t>
            </a:r>
            <a:endParaRPr lang="el-GR" sz="4000" dirty="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09176-B4C3-B37E-14EB-7E9DF58170F7}"/>
              </a:ext>
            </a:extLst>
          </p:cNvPr>
          <p:cNvSpPr txBox="1"/>
          <p:nvPr/>
        </p:nvSpPr>
        <p:spPr>
          <a:xfrm>
            <a:off x="3546234" y="2789149"/>
            <a:ext cx="3687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aford Display" panose="00000500000000000000" pitchFamily="2" charset="0"/>
              </a:rPr>
              <a:t>Mining of Massive Datasets 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A0E04D1-9FCE-1C14-AA3D-30F39E6F69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3651" y="5241064"/>
            <a:ext cx="4436828" cy="1176393"/>
          </a:xfrm>
        </p:spPr>
        <p:txBody>
          <a:bodyPr anchor="t">
            <a:noAutofit/>
          </a:bodyPr>
          <a:lstStyle/>
          <a:p>
            <a:pPr lvl="0" algn="r">
              <a:lnSpc>
                <a:spcPct val="100000"/>
              </a:lnSpc>
            </a:pPr>
            <a:r>
              <a:rPr lang="en-US" sz="1800" dirty="0" err="1">
                <a:latin typeface="Seaford Display" panose="00000500000000000000" pitchFamily="2" charset="0"/>
              </a:rPr>
              <a:t>Anestis</a:t>
            </a:r>
            <a:r>
              <a:rPr lang="en-US" sz="1800" dirty="0">
                <a:latin typeface="Seaford Display" panose="00000500000000000000" pitchFamily="2" charset="0"/>
              </a:rPr>
              <a:t> </a:t>
            </a:r>
            <a:r>
              <a:rPr lang="en-US" sz="1800" dirty="0" err="1">
                <a:latin typeface="Seaford Display" panose="00000500000000000000" pitchFamily="2" charset="0"/>
              </a:rPr>
              <a:t>Ampatzidis</a:t>
            </a:r>
            <a:endParaRPr lang="en-US" sz="1800" dirty="0">
              <a:latin typeface="Seaford Display" panose="00000500000000000000" pitchFamily="2" charset="0"/>
            </a:endParaRPr>
          </a:p>
          <a:p>
            <a:pPr lvl="0" algn="r">
              <a:lnSpc>
                <a:spcPct val="100000"/>
              </a:lnSpc>
            </a:pPr>
            <a:r>
              <a:rPr lang="en-US" sz="1800" dirty="0">
                <a:latin typeface="Seaford Display" panose="00000500000000000000" pitchFamily="2" charset="0"/>
              </a:rPr>
              <a:t>Zoi Katsantoni</a:t>
            </a:r>
          </a:p>
          <a:p>
            <a:pPr lvl="0" algn="r">
              <a:lnSpc>
                <a:spcPct val="100000"/>
              </a:lnSpc>
            </a:pPr>
            <a:r>
              <a:rPr lang="en-US" sz="1800" dirty="0">
                <a:latin typeface="Seaford Display" panose="00000500000000000000" pitchFamily="2" charset="0"/>
              </a:rPr>
              <a:t>Eleni </a:t>
            </a:r>
            <a:r>
              <a:rPr lang="en-US" sz="1800" dirty="0" err="1">
                <a:latin typeface="Seaford Display" panose="00000500000000000000" pitchFamily="2" charset="0"/>
              </a:rPr>
              <a:t>Trachanidou</a:t>
            </a:r>
            <a:endParaRPr lang="en-US" sz="1800" dirty="0">
              <a:latin typeface="Seaford Display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2FA087-8FA7-8CA9-91C7-4BF5E1E34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1" y="74288"/>
            <a:ext cx="2007856" cy="613640"/>
          </a:xfrm>
          <a:prstGeom prst="rect">
            <a:avLst/>
          </a:prstGeom>
        </p:spPr>
      </p:pic>
      <p:pic>
        <p:nvPicPr>
          <p:cNvPr id="12" name="Picture 11" descr="A logo for a school of informatics&#10;&#10;AI-generated content may be incorrect.">
            <a:extLst>
              <a:ext uri="{FF2B5EF4-FFF2-40B4-BE49-F238E27FC236}">
                <a16:creationId xmlns:a16="http://schemas.microsoft.com/office/drawing/2014/main" id="{A7207508-238B-AF57-08AF-CA0DD9C68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" y="687928"/>
            <a:ext cx="1362830" cy="6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60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5E13284-BBFD-D54B-B1CD-632113C2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4746585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dATASET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62988-672E-BB0E-AA55-299B720CEF0F}"/>
              </a:ext>
            </a:extLst>
          </p:cNvPr>
          <p:cNvSpPr txBox="1"/>
          <p:nvPr/>
        </p:nvSpPr>
        <p:spPr>
          <a:xfrm>
            <a:off x="815051" y="1682453"/>
            <a:ext cx="286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We used 4 different domains </a:t>
            </a:r>
            <a:endParaRPr lang="el-GR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EEF186-A046-E85A-6312-A491EC3280A7}"/>
              </a:ext>
            </a:extLst>
          </p:cNvPr>
          <p:cNvSpPr/>
          <p:nvPr/>
        </p:nvSpPr>
        <p:spPr>
          <a:xfrm>
            <a:off x="1651726" y="3023483"/>
            <a:ext cx="874644" cy="811033"/>
          </a:xfrm>
          <a:prstGeom prst="ellipse">
            <a:avLst/>
          </a:prstGeom>
          <a:solidFill>
            <a:srgbClr val="C0D8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 Antiqua" panose="02040602050305030304" pitchFamily="18" charset="0"/>
              </a:rPr>
              <a:t>1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94DAF-D1CA-0E3B-F080-65AACE901EC5}"/>
              </a:ext>
            </a:extLst>
          </p:cNvPr>
          <p:cNvSpPr txBox="1"/>
          <p:nvPr/>
        </p:nvSpPr>
        <p:spPr>
          <a:xfrm>
            <a:off x="1061459" y="4342435"/>
            <a:ext cx="198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aford Display" panose="00000500000000000000" pitchFamily="2" charset="0"/>
              </a:rPr>
              <a:t>YAHOO</a:t>
            </a:r>
            <a:endParaRPr lang="el-GR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FC4FD-EEC0-655F-5624-E395B96FF271}"/>
              </a:ext>
            </a:extLst>
          </p:cNvPr>
          <p:cNvSpPr txBox="1"/>
          <p:nvPr/>
        </p:nvSpPr>
        <p:spPr>
          <a:xfrm>
            <a:off x="3298071" y="4373213"/>
            <a:ext cx="276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Seaford Display" panose="00000500000000000000" pitchFamily="2" charset="0"/>
              </a:rPr>
              <a:t>SensorScope</a:t>
            </a:r>
            <a:endParaRPr lang="el-GR" sz="1800" b="0" dirty="0"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F4D60-2C14-0F92-E5D4-7F68ADF97691}"/>
              </a:ext>
            </a:extLst>
          </p:cNvPr>
          <p:cNvSpPr txBox="1"/>
          <p:nvPr/>
        </p:nvSpPr>
        <p:spPr>
          <a:xfrm>
            <a:off x="8903762" y="4381160"/>
            <a:ext cx="226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aford Display" panose="00000500000000000000" pitchFamily="2" charset="0"/>
              </a:rPr>
              <a:t>Genesis</a:t>
            </a:r>
            <a:endParaRPr lang="el-GR" sz="1400" b="0" dirty="0">
              <a:latin typeface="Georgia" panose="020405020504050203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25A1A0-E19A-D90D-7EC3-573E76EABB1D}"/>
              </a:ext>
            </a:extLst>
          </p:cNvPr>
          <p:cNvSpPr/>
          <p:nvPr/>
        </p:nvSpPr>
        <p:spPr>
          <a:xfrm>
            <a:off x="4243659" y="3023485"/>
            <a:ext cx="874644" cy="811033"/>
          </a:xfrm>
          <a:prstGeom prst="ellipse">
            <a:avLst/>
          </a:prstGeom>
          <a:solidFill>
            <a:srgbClr val="A1C4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 Antiqua" panose="02040602050305030304" pitchFamily="18" charset="0"/>
              </a:rPr>
              <a:t>2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B04B93-7B71-925F-A738-B13AA07FA8CA}"/>
              </a:ext>
            </a:extLst>
          </p:cNvPr>
          <p:cNvSpPr/>
          <p:nvPr/>
        </p:nvSpPr>
        <p:spPr>
          <a:xfrm>
            <a:off x="7006574" y="3023484"/>
            <a:ext cx="874644" cy="811033"/>
          </a:xfrm>
          <a:prstGeom prst="ellipse">
            <a:avLst/>
          </a:prstGeom>
          <a:solidFill>
            <a:srgbClr val="3477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 Antiqua" panose="02040602050305030304" pitchFamily="18" charset="0"/>
              </a:rPr>
              <a:t>3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1AA6A-89D7-5B6C-91B0-6D191DBB3DB3}"/>
              </a:ext>
            </a:extLst>
          </p:cNvPr>
          <p:cNvSpPr txBox="1"/>
          <p:nvPr/>
        </p:nvSpPr>
        <p:spPr>
          <a:xfrm>
            <a:off x="6311829" y="4342435"/>
            <a:ext cx="226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aford Display" panose="00000500000000000000" pitchFamily="2" charset="0"/>
              </a:rPr>
              <a:t>GHL</a:t>
            </a:r>
            <a:endParaRPr lang="el-GR" sz="1400" dirty="0">
              <a:latin typeface="Georgia" panose="02040502050405020303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A554B8-2E8E-60CF-8BBB-4D0F77819F25}"/>
              </a:ext>
            </a:extLst>
          </p:cNvPr>
          <p:cNvSpPr/>
          <p:nvPr/>
        </p:nvSpPr>
        <p:spPr>
          <a:xfrm>
            <a:off x="9598507" y="3023483"/>
            <a:ext cx="874644" cy="811033"/>
          </a:xfrm>
          <a:prstGeom prst="ellipse">
            <a:avLst/>
          </a:prstGeom>
          <a:solidFill>
            <a:srgbClr val="234F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ook Antiqua" panose="02040602050305030304" pitchFamily="18" charset="0"/>
              </a:rPr>
              <a:t>4</a:t>
            </a:r>
            <a:endParaRPr lang="el-GR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404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/>
      <p:bldP spid="8" grpId="0" animBg="1"/>
      <p:bldP spid="9" grpId="0" animBg="1"/>
      <p:bldP spid="10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9705-DB14-2A1A-DEE4-49124E3B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E77B1A-E395-9184-60BE-CADCA4A2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4746585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dATASET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6BF47A-BDDD-AF05-334D-E5761CBE078D}"/>
              </a:ext>
            </a:extLst>
          </p:cNvPr>
          <p:cNvSpPr txBox="1"/>
          <p:nvPr/>
        </p:nvSpPr>
        <p:spPr>
          <a:xfrm>
            <a:off x="815051" y="1682453"/>
            <a:ext cx="286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We used 4 different domains </a:t>
            </a:r>
            <a:endParaRPr lang="el-GR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F9722B-AFA4-F18F-6B46-A6D8DF19CE99}"/>
              </a:ext>
            </a:extLst>
          </p:cNvPr>
          <p:cNvSpPr/>
          <p:nvPr/>
        </p:nvSpPr>
        <p:spPr>
          <a:xfrm>
            <a:off x="1221595" y="2304858"/>
            <a:ext cx="438907" cy="405517"/>
          </a:xfrm>
          <a:prstGeom prst="ellipse">
            <a:avLst/>
          </a:prstGeom>
          <a:solidFill>
            <a:srgbClr val="C0D8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1</a:t>
            </a:r>
            <a:endParaRPr lang="el-GR" sz="1200" dirty="0"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5D2D7-C75B-0A0D-90F7-6AB92B0F0D40}"/>
              </a:ext>
            </a:extLst>
          </p:cNvPr>
          <p:cNvSpPr txBox="1"/>
          <p:nvPr/>
        </p:nvSpPr>
        <p:spPr>
          <a:xfrm>
            <a:off x="937292" y="2840844"/>
            <a:ext cx="1054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aford Display" panose="00000500000000000000" pitchFamily="2" charset="0"/>
              </a:rPr>
              <a:t>YAHOO</a:t>
            </a:r>
            <a:endParaRPr lang="el-GR" sz="1200" b="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170B0-9C26-3A22-A8E7-76C7893236F2}"/>
              </a:ext>
            </a:extLst>
          </p:cNvPr>
          <p:cNvSpPr txBox="1"/>
          <p:nvPr/>
        </p:nvSpPr>
        <p:spPr>
          <a:xfrm>
            <a:off x="892606" y="3665719"/>
            <a:ext cx="10986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latin typeface="Seaford Display" panose="00000500000000000000" pitchFamily="2" charset="0"/>
              </a:rPr>
              <a:t>SensorScope</a:t>
            </a:r>
            <a:endParaRPr lang="el-GR" sz="1200" b="0" dirty="0"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23B2C-8ADD-3CD7-18EE-061658D57C00}"/>
              </a:ext>
            </a:extLst>
          </p:cNvPr>
          <p:cNvSpPr txBox="1"/>
          <p:nvPr/>
        </p:nvSpPr>
        <p:spPr>
          <a:xfrm>
            <a:off x="912277" y="5578693"/>
            <a:ext cx="10557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Seaford Display" panose="00000500000000000000" pitchFamily="2" charset="0"/>
              </a:rPr>
              <a:t>Genesis</a:t>
            </a:r>
            <a:endParaRPr lang="el-GR" sz="1050" b="0" dirty="0">
              <a:latin typeface="Georgia" panose="020405020504050203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4970DA-8BA3-3A7A-0973-32ED275CF12A}"/>
              </a:ext>
            </a:extLst>
          </p:cNvPr>
          <p:cNvSpPr/>
          <p:nvPr/>
        </p:nvSpPr>
        <p:spPr>
          <a:xfrm>
            <a:off x="1223401" y="3194766"/>
            <a:ext cx="437102" cy="405515"/>
          </a:xfrm>
          <a:prstGeom prst="ellipse">
            <a:avLst/>
          </a:prstGeom>
          <a:solidFill>
            <a:srgbClr val="A1C4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2</a:t>
            </a:r>
            <a:endParaRPr lang="el-GR" sz="1200" dirty="0">
              <a:latin typeface="Book Antiqua" panose="0204060205030503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B6FC00-9B8A-D303-C342-DB58A98EDE97}"/>
              </a:ext>
            </a:extLst>
          </p:cNvPr>
          <p:cNvSpPr/>
          <p:nvPr/>
        </p:nvSpPr>
        <p:spPr>
          <a:xfrm>
            <a:off x="1223401" y="4147296"/>
            <a:ext cx="437101" cy="408068"/>
          </a:xfrm>
          <a:prstGeom prst="ellipse">
            <a:avLst/>
          </a:prstGeom>
          <a:solidFill>
            <a:srgbClr val="3477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3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024F0-DA36-3DA6-00E7-CAB0655B32B3}"/>
              </a:ext>
            </a:extLst>
          </p:cNvPr>
          <p:cNvSpPr txBox="1"/>
          <p:nvPr/>
        </p:nvSpPr>
        <p:spPr>
          <a:xfrm>
            <a:off x="1003215" y="4612614"/>
            <a:ext cx="922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Seaford Display" panose="00000500000000000000" pitchFamily="2" charset="0"/>
              </a:rPr>
              <a:t>GHL</a:t>
            </a:r>
            <a:endParaRPr lang="el-GR" sz="1400" dirty="0">
              <a:latin typeface="Georgia" panose="02040502050405020303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8F5265-E90B-BA9E-DBDC-CBC7E80CCFDA}"/>
              </a:ext>
            </a:extLst>
          </p:cNvPr>
          <p:cNvSpPr/>
          <p:nvPr/>
        </p:nvSpPr>
        <p:spPr>
          <a:xfrm>
            <a:off x="1221595" y="5093551"/>
            <a:ext cx="437102" cy="419704"/>
          </a:xfrm>
          <a:prstGeom prst="ellipse">
            <a:avLst/>
          </a:prstGeom>
          <a:solidFill>
            <a:srgbClr val="234F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4</a:t>
            </a:r>
            <a:endParaRPr lang="el-GR" sz="1200" dirty="0">
              <a:latin typeface="Book Antiqua" panose="0204060205030503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5B44659-6B7C-E415-D81E-5CE80173B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143908"/>
              </p:ext>
            </p:extLst>
          </p:nvPr>
        </p:nvGraphicFramePr>
        <p:xfrm>
          <a:off x="3603279" y="2304858"/>
          <a:ext cx="7170345" cy="320839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671936">
                  <a:extLst>
                    <a:ext uri="{9D8B030D-6E8A-4147-A177-3AD203B41FA5}">
                      <a16:colId xmlns:a16="http://schemas.microsoft.com/office/drawing/2014/main" val="3372307416"/>
                    </a:ext>
                  </a:extLst>
                </a:gridCol>
                <a:gridCol w="5498409">
                  <a:extLst>
                    <a:ext uri="{9D8B030D-6E8A-4147-A177-3AD203B41FA5}">
                      <a16:colId xmlns:a16="http://schemas.microsoft.com/office/drawing/2014/main" val="1687093051"/>
                    </a:ext>
                  </a:extLst>
                </a:gridCol>
              </a:tblGrid>
              <a:tr h="6416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b="1" dirty="0" err="1">
                          <a:latin typeface="Seaford Display" panose="00000500000000000000" pitchFamily="2" charset="0"/>
                        </a:rPr>
                        <a:t>Normalities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latin typeface="Seaford Display" panose="00000500000000000000" pitchFamily="2" charset="0"/>
                        </a:rPr>
                        <a:t>Domains</a:t>
                      </a: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 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034597"/>
                  </a:ext>
                </a:extLst>
              </a:tr>
              <a:tr h="6416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1</a:t>
                      </a:r>
                      <a:endParaRPr lang="el-GR" sz="14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YAHOO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189981"/>
                  </a:ext>
                </a:extLst>
              </a:tr>
              <a:tr h="6416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2</a:t>
                      </a:r>
                      <a:endParaRPr lang="el-GR" sz="14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YAHOO + </a:t>
                      </a:r>
                      <a:r>
                        <a:rPr lang="en-US" sz="1400" dirty="0" err="1">
                          <a:latin typeface="Seaford Display" panose="00000500000000000000" pitchFamily="2" charset="0"/>
                        </a:rPr>
                        <a:t>SensorScope</a:t>
                      </a: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 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336283"/>
                  </a:ext>
                </a:extLst>
              </a:tr>
              <a:tr h="6416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3</a:t>
                      </a:r>
                      <a:endParaRPr lang="el-GR" sz="14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YAHOO + </a:t>
                      </a:r>
                      <a:r>
                        <a:rPr lang="en-US" sz="1400" dirty="0" err="1">
                          <a:latin typeface="Seaford Display" panose="00000500000000000000" pitchFamily="2" charset="0"/>
                        </a:rPr>
                        <a:t>SensorScope</a:t>
                      </a: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 + GHL 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149626"/>
                  </a:ext>
                </a:extLst>
              </a:tr>
              <a:tr h="6416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4</a:t>
                      </a:r>
                      <a:endParaRPr lang="el-GR" sz="140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YAHOO + </a:t>
                      </a:r>
                      <a:r>
                        <a:rPr lang="en-US" sz="1400" dirty="0" err="1">
                          <a:latin typeface="Seaford Display" panose="00000500000000000000" pitchFamily="2" charset="0"/>
                        </a:rPr>
                        <a:t>SensorScope</a:t>
                      </a:r>
                      <a:r>
                        <a:rPr lang="el-GR" sz="1400" dirty="0">
                          <a:latin typeface="Book Antiqua" panose="02040602050305030304" pitchFamily="18" charset="0"/>
                        </a:rPr>
                        <a:t> </a:t>
                      </a:r>
                      <a:r>
                        <a:rPr lang="en-US" sz="1400" dirty="0">
                          <a:latin typeface="Seaford Display" panose="00000500000000000000" pitchFamily="2" charset="0"/>
                        </a:rPr>
                        <a:t>+ GHL + Genesis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52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642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E085-259B-56D9-DE04-9CA45EB4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DD2BF3-2550-63B1-4E99-E5331F98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928787"/>
            <a:ext cx="10277019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NON-STREAMING Anomaly detection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E1E45-EB85-EE85-AEC2-86A2E671C0B3}"/>
              </a:ext>
            </a:extLst>
          </p:cNvPr>
          <p:cNvSpPr/>
          <p:nvPr/>
        </p:nvSpPr>
        <p:spPr>
          <a:xfrm>
            <a:off x="2451641" y="2033723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Isolation Forest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D13B05-85A5-58DE-FE50-84FC0ADEEAE1}"/>
              </a:ext>
            </a:extLst>
          </p:cNvPr>
          <p:cNvSpPr/>
          <p:nvPr/>
        </p:nvSpPr>
        <p:spPr>
          <a:xfrm>
            <a:off x="7741994" y="2033723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Autoencoder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F94E8D9-9A13-DF3D-3852-2905ADBCB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694487"/>
              </p:ext>
            </p:extLst>
          </p:nvPr>
        </p:nvGraphicFramePr>
        <p:xfrm>
          <a:off x="1020488" y="3017817"/>
          <a:ext cx="4860675" cy="271704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53287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022448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956085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031218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997637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1483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0.8000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0.0055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0.3538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0.0089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0.0952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0.0231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0.2056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/>
                        <a:t>0.0049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0.1702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0.0089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0.2601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0.0063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0.8772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0.4718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0.6565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0.4789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</a:t>
                      </a:r>
                    </a:p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0.0077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0.0519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0.4124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0.3579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930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95DC700-342A-9535-3C48-0C4BE536F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827327"/>
              </p:ext>
            </p:extLst>
          </p:nvPr>
        </p:nvGraphicFramePr>
        <p:xfrm>
          <a:off x="6112022" y="3017817"/>
          <a:ext cx="5258309" cy="271704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53287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129016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089329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073494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1483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0.1824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0.2894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0.8072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0.3529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0.1814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0.1379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0.4444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0.1871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0.2230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0.2356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0.9937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0.5319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0.8639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0.8818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 (minutes)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0.2714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1.5101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2.8094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65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940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E6C9-E41A-EBA2-8660-34C3145C6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8A8C66-1BC7-B393-1796-DEEE02CA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928787"/>
            <a:ext cx="9683771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SAND - STREAMING Anomaly detection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3DB2E2-C4EE-C8B3-C5E5-2C7A6D874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36136"/>
              </p:ext>
            </p:extLst>
          </p:nvPr>
        </p:nvGraphicFramePr>
        <p:xfrm>
          <a:off x="2054455" y="2288649"/>
          <a:ext cx="8083089" cy="267197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418979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700286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589927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714870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659027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4092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1.0000</a:t>
                      </a:r>
                      <a:endParaRPr lang="el-GR" sz="12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0.7032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0.0031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0.0035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0.0334</a:t>
                      </a:r>
                      <a:endParaRPr lang="el-GR" sz="12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0.2347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0.0031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0.0017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0.0647</a:t>
                      </a:r>
                      <a:endParaRPr lang="el-GR" sz="12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0.3520</a:t>
                      </a:r>
                      <a:endParaRPr lang="el-GR" sz="1200" b="1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0.0031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0.0023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3983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0.9135</a:t>
                      </a:r>
                      <a:endParaRPr lang="el-GR" sz="1200" b="1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0.5459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0.4866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0.4718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6245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0.0088 </a:t>
                      </a:r>
                      <a:endParaRPr lang="el-GR" sz="12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0.1962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2.5002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2.6962</a:t>
                      </a:r>
                      <a:endParaRPr lang="el-GR" sz="12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223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BDC822-EAAA-8372-2247-99D29EC1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4746585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Variant 1</a:t>
            </a:r>
            <a:endParaRPr lang="el-GR" dirty="0">
              <a:latin typeface="Book Antiqua" panose="0204060205030503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D8C37C-E204-9BD0-94E7-B7DD7732A328}"/>
              </a:ext>
            </a:extLst>
          </p:cNvPr>
          <p:cNvSpPr/>
          <p:nvPr/>
        </p:nvSpPr>
        <p:spPr>
          <a:xfrm>
            <a:off x="3936533" y="2040645"/>
            <a:ext cx="4318933" cy="1117592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Naïve Streaming Variant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635DBF-9C94-9A61-CEC1-2D532FA1DA69}"/>
              </a:ext>
            </a:extLst>
          </p:cNvPr>
          <p:cNvSpPr/>
          <p:nvPr/>
        </p:nvSpPr>
        <p:spPr>
          <a:xfrm>
            <a:off x="3847875" y="3595788"/>
            <a:ext cx="4496248" cy="11175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Batch size: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500 (Normality 1)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5000 (</a:t>
            </a:r>
            <a:r>
              <a:rPr lang="en-US" dirty="0" err="1">
                <a:solidFill>
                  <a:schemeClr val="tx1"/>
                </a:solidFill>
                <a:latin typeface="Seaford Display" panose="00000500000000000000" pitchFamily="2" charset="0"/>
              </a:rPr>
              <a:t>Normalities</a:t>
            </a:r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 2, 3, 4)</a:t>
            </a:r>
          </a:p>
        </p:txBody>
      </p:sp>
    </p:spTree>
    <p:extLst>
      <p:ext uri="{BB962C8B-B14F-4D97-AF65-F5344CB8AC3E}">
        <p14:creationId xmlns:p14="http://schemas.microsoft.com/office/powerpoint/2010/main" val="210973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CB6F6-4A72-D272-C5D9-45FF1F99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D9F4F4-0C06-71FF-AEA3-C8FAD2B4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928787"/>
            <a:ext cx="10277019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STREAMING Anomaly detection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9419DF-133E-E110-B64B-892900803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693710"/>
              </p:ext>
            </p:extLst>
          </p:nvPr>
        </p:nvGraphicFramePr>
        <p:xfrm>
          <a:off x="890903" y="3017817"/>
          <a:ext cx="4860675" cy="286385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53287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022448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956085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031218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997637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148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0.9000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0.1047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0.1025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0.1084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0.0592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0.2459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0.2184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0.1554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0.1111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0.1469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0.1395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0.1277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0.9072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0.5095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0.5458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sz="1200" dirty="0"/>
                        <a:t>0.5459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/>
                        <a:t>0.0548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/>
                        <a:t>0.5470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/>
                        <a:t>0.5715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/>
                        <a:t>0.6472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930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C5BCB47-4108-A960-0B35-3F8166D81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87735"/>
              </p:ext>
            </p:extLst>
          </p:nvPr>
        </p:nvGraphicFramePr>
        <p:xfrm>
          <a:off x="6167783" y="3017817"/>
          <a:ext cx="5258241" cy="28863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11913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092695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098829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057524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493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324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0.3043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0.2978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0.3009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99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0.1951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0.4252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0.2846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0.2375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99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0.3137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0.3547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0.2910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0.2655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99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0.9764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0.5880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0.9221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0.8863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5836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 </a:t>
                      </a:r>
                      <a:r>
                        <a:rPr lang="en-US" sz="1200" b="0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0.2699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1.0334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4.6188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5.7203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65737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BBCF8C-ABCE-E048-ACF2-FF277E7E4AE7}"/>
              </a:ext>
            </a:extLst>
          </p:cNvPr>
          <p:cNvSpPr/>
          <p:nvPr/>
        </p:nvSpPr>
        <p:spPr>
          <a:xfrm>
            <a:off x="890903" y="1584258"/>
            <a:ext cx="992218" cy="317223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Seaford Display" panose="00000500000000000000" pitchFamily="2" charset="0"/>
              </a:rPr>
              <a:t>Variant 1</a:t>
            </a:r>
            <a:endParaRPr lang="el-GR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BCA9F9-B3B9-4E04-1836-9CAC67C2CC7F}"/>
              </a:ext>
            </a:extLst>
          </p:cNvPr>
          <p:cNvSpPr/>
          <p:nvPr/>
        </p:nvSpPr>
        <p:spPr>
          <a:xfrm>
            <a:off x="2322056" y="2078650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Isolation Forest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2648C-2AF2-87D5-8492-88E93DBE2827}"/>
              </a:ext>
            </a:extLst>
          </p:cNvPr>
          <p:cNvSpPr/>
          <p:nvPr/>
        </p:nvSpPr>
        <p:spPr>
          <a:xfrm>
            <a:off x="7718140" y="2078649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Autoencoder </a:t>
            </a:r>
          </a:p>
        </p:txBody>
      </p:sp>
    </p:spTree>
    <p:extLst>
      <p:ext uri="{BB962C8B-B14F-4D97-AF65-F5344CB8AC3E}">
        <p14:creationId xmlns:p14="http://schemas.microsoft.com/office/powerpoint/2010/main" val="364982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D1CB3-0461-BE95-5E1C-4F13BB12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2846AC-AB38-0E7E-CDF3-976CDA99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10572528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Variant 2</a:t>
            </a:r>
            <a:endParaRPr lang="el-GR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E64D94-C259-F1EE-EC7E-524104A08E0D}"/>
              </a:ext>
            </a:extLst>
          </p:cNvPr>
          <p:cNvSpPr/>
          <p:nvPr/>
        </p:nvSpPr>
        <p:spPr>
          <a:xfrm>
            <a:off x="3936533" y="2040645"/>
            <a:ext cx="4318933" cy="1117592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Batching with history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B2CBBF-4B78-314A-08CA-BEE6F7D10D0B}"/>
              </a:ext>
            </a:extLst>
          </p:cNvPr>
          <p:cNvSpPr/>
          <p:nvPr/>
        </p:nvSpPr>
        <p:spPr>
          <a:xfrm>
            <a:off x="3847875" y="3595788"/>
            <a:ext cx="4496248" cy="11175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Batch size: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500 (Normality 1)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5000 (</a:t>
            </a:r>
            <a:r>
              <a:rPr lang="en-US" dirty="0" err="1">
                <a:solidFill>
                  <a:schemeClr val="tx1"/>
                </a:solidFill>
                <a:latin typeface="Seaford Display" panose="00000500000000000000" pitchFamily="2" charset="0"/>
              </a:rPr>
              <a:t>Normalities</a:t>
            </a:r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 2, 3, 4)</a:t>
            </a:r>
          </a:p>
        </p:txBody>
      </p:sp>
    </p:spTree>
    <p:extLst>
      <p:ext uri="{BB962C8B-B14F-4D97-AF65-F5344CB8AC3E}">
        <p14:creationId xmlns:p14="http://schemas.microsoft.com/office/powerpoint/2010/main" val="3140877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0D6F-37BD-AE29-8C68-072DD276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2465CBB-0D94-F0BA-C0F0-F59B019E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928787"/>
            <a:ext cx="10277019" cy="6743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aford Display" panose="00000500000000000000" pitchFamily="2" charset="0"/>
              </a:rPr>
              <a:t>Variant 2 – batching with history 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3A27FE-2BD0-AE50-0C7E-083A0AEA3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958536"/>
              </p:ext>
            </p:extLst>
          </p:nvPr>
        </p:nvGraphicFramePr>
        <p:xfrm>
          <a:off x="1020488" y="3017817"/>
          <a:ext cx="4860675" cy="286385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53287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022448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956085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031218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997637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148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0.4000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0.2274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0.2226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0.2282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0.3636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0.3147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0.3002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0.1105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dirty="0"/>
                        <a:t>0.3810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0.2640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0.2556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0.1489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0.6979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0.5477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0.6035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dirty="0"/>
                        <a:t>0.5883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 </a:t>
                      </a:r>
                      <a:r>
                        <a:rPr lang="en-US" sz="1200" b="0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0.11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0.40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2.02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2.40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930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AA173B-EBF2-C9AA-259F-C5983BB3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94502"/>
              </p:ext>
            </p:extLst>
          </p:nvPr>
        </p:nvGraphicFramePr>
        <p:xfrm>
          <a:off x="6231394" y="3017817"/>
          <a:ext cx="5194629" cy="286385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11912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030635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083834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102068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066180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</a:tblGrid>
              <a:tr h="3148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Metrics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Recall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0.8000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0.3171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0.3103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0.3127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Precision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0.1951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0.4479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0.3143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0.2589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F1-Score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0.3137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0.3713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0.3123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0.2833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ROC-AUC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0.9675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0.5002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0.9041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  <a:tr h="480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Runtime </a:t>
                      </a:r>
                      <a:r>
                        <a:rPr lang="en-US" sz="1200" b="0" dirty="0">
                          <a:latin typeface="Seaford Display" panose="00000500000000000000" pitchFamily="2" charset="0"/>
                        </a:rPr>
                        <a:t>(minutes)</a:t>
                      </a:r>
                      <a:endParaRPr lang="el-GR" sz="12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0.2341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0.4498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3.4156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3.9614</a:t>
                      </a:r>
                      <a:endParaRPr lang="el-GR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65737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40F101-AA45-3397-B86F-8C77D820413B}"/>
              </a:ext>
            </a:extLst>
          </p:cNvPr>
          <p:cNvSpPr/>
          <p:nvPr/>
        </p:nvSpPr>
        <p:spPr>
          <a:xfrm>
            <a:off x="890903" y="1584258"/>
            <a:ext cx="1062772" cy="317223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Seaford Display" panose="00000500000000000000" pitchFamily="2" charset="0"/>
              </a:rPr>
              <a:t>Variant 2</a:t>
            </a:r>
            <a:endParaRPr lang="el-GR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3A59D1-3511-86A7-5500-E45DC887AF65}"/>
              </a:ext>
            </a:extLst>
          </p:cNvPr>
          <p:cNvSpPr/>
          <p:nvPr/>
        </p:nvSpPr>
        <p:spPr>
          <a:xfrm>
            <a:off x="2451641" y="2122496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Isolation Forest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44AD45-8E57-2E00-BB15-A91739D48D3B}"/>
              </a:ext>
            </a:extLst>
          </p:cNvPr>
          <p:cNvSpPr/>
          <p:nvPr/>
        </p:nvSpPr>
        <p:spPr>
          <a:xfrm>
            <a:off x="7741992" y="2122496"/>
            <a:ext cx="1998367" cy="674307"/>
          </a:xfrm>
          <a:prstGeom prst="roundRect">
            <a:avLst/>
          </a:prstGeom>
          <a:solidFill>
            <a:srgbClr val="E0E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eaford Display" panose="00000500000000000000" pitchFamily="2" charset="0"/>
              </a:rPr>
              <a:t>Autoencoder </a:t>
            </a:r>
          </a:p>
        </p:txBody>
      </p:sp>
    </p:spTree>
    <p:extLst>
      <p:ext uri="{BB962C8B-B14F-4D97-AF65-F5344CB8AC3E}">
        <p14:creationId xmlns:p14="http://schemas.microsoft.com/office/powerpoint/2010/main" val="2677858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C7CFE6-71D9-E3B2-65ED-9B092258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8615196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FINal</a:t>
            </a:r>
            <a:r>
              <a:rPr lang="en-US" dirty="0">
                <a:latin typeface="Seaford Display" panose="00000500000000000000" pitchFamily="2" charset="0"/>
              </a:rPr>
              <a:t> results – ROC AUC 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746380-A73B-310D-FBCD-C6B153181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73630"/>
              </p:ext>
            </p:extLst>
          </p:nvPr>
        </p:nvGraphicFramePr>
        <p:xfrm>
          <a:off x="1661761" y="2256557"/>
          <a:ext cx="8868477" cy="29176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53672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142734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155536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123600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146439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  <a:gridCol w="1102419">
                  <a:extLst>
                    <a:ext uri="{9D8B030D-6E8A-4147-A177-3AD203B41FA5}">
                      <a16:colId xmlns:a16="http://schemas.microsoft.com/office/drawing/2014/main" val="1479917942"/>
                    </a:ext>
                  </a:extLst>
                </a:gridCol>
                <a:gridCol w="1144148">
                  <a:extLst>
                    <a:ext uri="{9D8B030D-6E8A-4147-A177-3AD203B41FA5}">
                      <a16:colId xmlns:a16="http://schemas.microsoft.com/office/drawing/2014/main" val="1480653621"/>
                    </a:ext>
                  </a:extLst>
                </a:gridCol>
                <a:gridCol w="1099929">
                  <a:extLst>
                    <a:ext uri="{9D8B030D-6E8A-4147-A177-3AD203B41FA5}">
                      <a16:colId xmlns:a16="http://schemas.microsoft.com/office/drawing/2014/main" val="1089669342"/>
                    </a:ext>
                  </a:extLst>
                </a:gridCol>
              </a:tblGrid>
              <a:tr h="322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Static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SAND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372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941821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0.8772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0.9937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0.9072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0.9764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0.6979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0.9135</a:t>
                      </a:r>
                      <a:endParaRPr lang="el-GR" sz="14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0.4718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0.5319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0.5095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0.5880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0.5477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0.5002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0.5459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0.6565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0.8639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0.5458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0.9221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0.5883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0.9281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0.4866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0.4789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0.8818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0.5459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0.5459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0.5883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0.9041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0.4718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529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FF46-6709-CFC7-68DA-0CDCD69D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49272C-87AB-A5D1-4DE6-B9E7D16C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8615196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FINal</a:t>
            </a:r>
            <a:r>
              <a:rPr lang="en-US" dirty="0">
                <a:latin typeface="Seaford Display" panose="00000500000000000000" pitchFamily="2" charset="0"/>
              </a:rPr>
              <a:t> results – F1 SCORE 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92611-B809-5899-B714-4ED7FE249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99624"/>
              </p:ext>
            </p:extLst>
          </p:nvPr>
        </p:nvGraphicFramePr>
        <p:xfrm>
          <a:off x="1661761" y="2256557"/>
          <a:ext cx="8868477" cy="29176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53672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142734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155536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123600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146439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  <a:gridCol w="1102419">
                  <a:extLst>
                    <a:ext uri="{9D8B030D-6E8A-4147-A177-3AD203B41FA5}">
                      <a16:colId xmlns:a16="http://schemas.microsoft.com/office/drawing/2014/main" val="1479917942"/>
                    </a:ext>
                  </a:extLst>
                </a:gridCol>
                <a:gridCol w="1144148">
                  <a:extLst>
                    <a:ext uri="{9D8B030D-6E8A-4147-A177-3AD203B41FA5}">
                      <a16:colId xmlns:a16="http://schemas.microsoft.com/office/drawing/2014/main" val="1480653621"/>
                    </a:ext>
                  </a:extLst>
                </a:gridCol>
                <a:gridCol w="1099929">
                  <a:extLst>
                    <a:ext uri="{9D8B030D-6E8A-4147-A177-3AD203B41FA5}">
                      <a16:colId xmlns:a16="http://schemas.microsoft.com/office/drawing/2014/main" val="1089669342"/>
                    </a:ext>
                  </a:extLst>
                </a:gridCol>
              </a:tblGrid>
              <a:tr h="322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Static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SAND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372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941821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0.1702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0.4444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0.1111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0.3137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0.3810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0.3137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0.0647</a:t>
                      </a:r>
                      <a:endParaRPr lang="el-GR" sz="14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0.0089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0.1871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0.1469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0.3547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0.2640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0.3713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0.3520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0.2601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0.2230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0.1395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0.2910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0.2556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0.3123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0.0031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400" dirty="0"/>
                        <a:t>0.0063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0.2356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0.1277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0.2655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0.1489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0.2833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0.0023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447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5E512-AF68-5574-3396-1A4A714E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0953E3-C2BF-9AAF-5205-E39246E0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8615196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FINal</a:t>
            </a:r>
            <a:r>
              <a:rPr lang="en-US" dirty="0">
                <a:latin typeface="Seaford Display" panose="00000500000000000000" pitchFamily="2" charset="0"/>
              </a:rPr>
              <a:t> results – RUNTIMES </a:t>
            </a:r>
            <a:endParaRPr lang="el-GR" dirty="0">
              <a:latin typeface="Book Antiqua" panose="0204060205030503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C7D728-C399-C564-1656-762DD632D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12469"/>
              </p:ext>
            </p:extLst>
          </p:nvPr>
        </p:nvGraphicFramePr>
        <p:xfrm>
          <a:off x="1661761" y="2256557"/>
          <a:ext cx="8868477" cy="29176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53672">
                  <a:extLst>
                    <a:ext uri="{9D8B030D-6E8A-4147-A177-3AD203B41FA5}">
                      <a16:colId xmlns:a16="http://schemas.microsoft.com/office/drawing/2014/main" val="3059833408"/>
                    </a:ext>
                  </a:extLst>
                </a:gridCol>
                <a:gridCol w="1142734">
                  <a:extLst>
                    <a:ext uri="{9D8B030D-6E8A-4147-A177-3AD203B41FA5}">
                      <a16:colId xmlns:a16="http://schemas.microsoft.com/office/drawing/2014/main" val="1837768639"/>
                    </a:ext>
                  </a:extLst>
                </a:gridCol>
                <a:gridCol w="1155536">
                  <a:extLst>
                    <a:ext uri="{9D8B030D-6E8A-4147-A177-3AD203B41FA5}">
                      <a16:colId xmlns:a16="http://schemas.microsoft.com/office/drawing/2014/main" val="4259031133"/>
                    </a:ext>
                  </a:extLst>
                </a:gridCol>
                <a:gridCol w="1123600">
                  <a:extLst>
                    <a:ext uri="{9D8B030D-6E8A-4147-A177-3AD203B41FA5}">
                      <a16:colId xmlns:a16="http://schemas.microsoft.com/office/drawing/2014/main" val="3895855966"/>
                    </a:ext>
                  </a:extLst>
                </a:gridCol>
                <a:gridCol w="1146439">
                  <a:extLst>
                    <a:ext uri="{9D8B030D-6E8A-4147-A177-3AD203B41FA5}">
                      <a16:colId xmlns:a16="http://schemas.microsoft.com/office/drawing/2014/main" val="4260911472"/>
                    </a:ext>
                  </a:extLst>
                </a:gridCol>
                <a:gridCol w="1102419">
                  <a:extLst>
                    <a:ext uri="{9D8B030D-6E8A-4147-A177-3AD203B41FA5}">
                      <a16:colId xmlns:a16="http://schemas.microsoft.com/office/drawing/2014/main" val="1479917942"/>
                    </a:ext>
                  </a:extLst>
                </a:gridCol>
                <a:gridCol w="1144148">
                  <a:extLst>
                    <a:ext uri="{9D8B030D-6E8A-4147-A177-3AD203B41FA5}">
                      <a16:colId xmlns:a16="http://schemas.microsoft.com/office/drawing/2014/main" val="1480653621"/>
                    </a:ext>
                  </a:extLst>
                </a:gridCol>
                <a:gridCol w="1099929">
                  <a:extLst>
                    <a:ext uri="{9D8B030D-6E8A-4147-A177-3AD203B41FA5}">
                      <a16:colId xmlns:a16="http://schemas.microsoft.com/office/drawing/2014/main" val="1089669342"/>
                    </a:ext>
                  </a:extLst>
                </a:gridCol>
              </a:tblGrid>
              <a:tr h="322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Static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1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Variant 2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1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SAND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C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54703"/>
                  </a:ext>
                </a:extLst>
              </a:tr>
              <a:tr h="4372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Isolation Forest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Autoencoder </a:t>
                      </a: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sz="12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941821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1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dirty="0"/>
                        <a:t>0.0077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0.1289 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0.0548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0.2699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/>
                        <a:t>0.11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0.2341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0.0088</a:t>
                      </a:r>
                      <a:endParaRPr lang="el-GR" sz="1400" b="0" i="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258537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2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0.0519</a:t>
                      </a:r>
                      <a:r>
                        <a:rPr lang="en-US" sz="1400" dirty="0"/>
                        <a:t> 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0.2714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0.5470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1.0334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0.40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0.4498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0.1962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321526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3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dirty="0"/>
                        <a:t>0.4124</a:t>
                      </a:r>
                      <a:r>
                        <a:rPr lang="en-US" sz="1400" dirty="0"/>
                        <a:t> 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1.5101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0.5715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4.6188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2.02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3.4156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2.5002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58928"/>
                  </a:ext>
                </a:extLst>
              </a:tr>
              <a:tr h="492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latin typeface="Seaford Display" panose="00000500000000000000" pitchFamily="2" charset="0"/>
                        </a:rPr>
                        <a:t>Normality 4</a:t>
                      </a:r>
                      <a:endParaRPr lang="el-GR" sz="1200" b="1" dirty="0"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dirty="0"/>
                        <a:t>0.3579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2.8094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0.6472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5.7203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2.40</a:t>
                      </a:r>
                      <a:endParaRPr lang="el-GR" sz="14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3.9614</a:t>
                      </a:r>
                      <a:endParaRPr lang="el-GR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Seaford Display" panose="00000500000000000000" pitchFamily="2" charset="0"/>
                          <a:ea typeface="+mn-ea"/>
                          <a:cs typeface="+mn-cs"/>
                        </a:rPr>
                        <a:t>2.6962</a:t>
                      </a:r>
                      <a:endParaRPr lang="el-GR" sz="1400" b="0" i="0" kern="12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1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960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FEAC-8CF3-CD58-B9D7-27C6460C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14AC76-B1ED-E2A9-7125-D2286282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1" y="928787"/>
            <a:ext cx="8615196" cy="67430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Seaford Display" panose="00000500000000000000" pitchFamily="2" charset="0"/>
              </a:rPr>
              <a:t>FINal</a:t>
            </a:r>
            <a:r>
              <a:rPr lang="en-US" dirty="0">
                <a:latin typeface="Seaford Display" panose="00000500000000000000" pitchFamily="2" charset="0"/>
              </a:rPr>
              <a:t> results – RUNTIMES </a:t>
            </a:r>
            <a:endParaRPr lang="el-GR" dirty="0">
              <a:latin typeface="Book Antiqua" panose="020406020503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F4BD0-EB9F-D6C1-9C8A-725D4FF0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6"/>
          <a:stretch>
            <a:fillRect/>
          </a:stretch>
        </p:blipFill>
        <p:spPr>
          <a:xfrm>
            <a:off x="1422546" y="1548392"/>
            <a:ext cx="3986462" cy="2254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9FC7E-2E61-E6BC-38EB-6F18C5BEE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517" y="1603093"/>
            <a:ext cx="3795448" cy="2144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AD748B-5C55-5B8F-1D0B-14720B63A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311" y="3747846"/>
            <a:ext cx="3948698" cy="2336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5801AD-E7E2-8A50-5C59-E81B6C520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517" y="3747845"/>
            <a:ext cx="3795448" cy="225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51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7535-7352-2C0A-9E6B-CB120E82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2770292-7861-D8E3-38F9-17E674B9C86F}"/>
              </a:ext>
            </a:extLst>
          </p:cNvPr>
          <p:cNvSpPr txBox="1"/>
          <p:nvPr/>
        </p:nvSpPr>
        <p:spPr>
          <a:xfrm>
            <a:off x="1917421" y="2231620"/>
            <a:ext cx="2689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Thank you!</a:t>
            </a:r>
            <a:endParaRPr lang="el-GR"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149E6-F989-BA5B-CEB1-01038EF28A2D}"/>
              </a:ext>
            </a:extLst>
          </p:cNvPr>
          <p:cNvSpPr txBox="1"/>
          <p:nvPr/>
        </p:nvSpPr>
        <p:spPr>
          <a:xfrm>
            <a:off x="3185631" y="2859346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questions?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472176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theme/theme1.xml><?xml version="1.0" encoding="utf-8"?>
<a:theme xmlns:a="http://schemas.openxmlformats.org/drawingml/2006/main" name="ChronicleVTI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6A262"/>
      </a:accent1>
      <a:accent2>
        <a:srgbClr val="34B899"/>
      </a:accent2>
      <a:accent3>
        <a:srgbClr val="92D050"/>
      </a:accent3>
      <a:accent4>
        <a:srgbClr val="189488"/>
      </a:accent4>
      <a:accent5>
        <a:srgbClr val="C1EDFB"/>
      </a:accent5>
      <a:accent6>
        <a:srgbClr val="83DCF8"/>
      </a:accent6>
      <a:hlink>
        <a:srgbClr val="6B9F25"/>
      </a:hlink>
      <a:folHlink>
        <a:srgbClr val="BA6906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Χρονικό</Template>
  <TotalTime>415</TotalTime>
  <Words>576</Words>
  <Application>Microsoft Office PowerPoint</Application>
  <PresentationFormat>Widescreen</PresentationFormat>
  <Paragraphs>403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Book Antiqua</vt:lpstr>
      <vt:lpstr>Calisto MT</vt:lpstr>
      <vt:lpstr>Georgia</vt:lpstr>
      <vt:lpstr>Seaford Display</vt:lpstr>
      <vt:lpstr>Univers Condensed</vt:lpstr>
      <vt:lpstr>ChronicleVTI</vt:lpstr>
      <vt:lpstr>PowerPoint Presentation</vt:lpstr>
      <vt:lpstr>dATASET</vt:lpstr>
      <vt:lpstr>dATASET</vt:lpstr>
      <vt:lpstr>NON-STREAMING Anomaly detection</vt:lpstr>
      <vt:lpstr>SAND - STREAMING Anomaly detection</vt:lpstr>
      <vt:lpstr>Variant 1</vt:lpstr>
      <vt:lpstr>STREAMING Anomaly detection</vt:lpstr>
      <vt:lpstr>Variant 2</vt:lpstr>
      <vt:lpstr>Variant 2 – batching with history </vt:lpstr>
      <vt:lpstr>FINal results – ROC AUC </vt:lpstr>
      <vt:lpstr>FINal results – F1 SCORE </vt:lpstr>
      <vt:lpstr>FINal results – RUNTIMES </vt:lpstr>
      <vt:lpstr>FINal results – RUNTIMES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Zoey Katsantoni</dc:creator>
  <cp:lastModifiedBy>Zoey Katsantoni</cp:lastModifiedBy>
  <cp:revision>43</cp:revision>
  <dcterms:created xsi:type="dcterms:W3CDTF">2025-06-07T13:58:30Z</dcterms:created>
  <dcterms:modified xsi:type="dcterms:W3CDTF">2025-06-10T22:18:05Z</dcterms:modified>
</cp:coreProperties>
</file>